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Iniciativas</c:v>
                </c:pt>
              </c:strCache>
            </c:strRef>
          </c:tx>
          <c:spPr>
            <a:solidFill>
              <a:srgbClr val="003D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Propuesta</c:v>
                  </c:pt>
                  <c:pt idx="1">
                    <c:v>Dimensionamiento</c:v>
                  </c:pt>
                  <c:pt idx="2">
                    <c:v>MVP</c:v>
                  </c:pt>
                  <c:pt idx="3">
                    <c:v>Delivery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Beneficio bruto (M USD)</c:v>
                </c:pt>
              </c:strCache>
            </c:strRef>
          </c:tx>
          <c:spPr>
            <a:solidFill>
              <a:srgbClr val="0084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4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3D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3DA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E8E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Producción</c:v>
                  </c:pt>
                  <c:pt idx="1">
                    <c:v>OPEX</c:v>
                  </c:pt>
                  <c:pt idx="2">
                    <c:v>CAPEX</c:v>
                  </c:pt>
                  <c:pt idx="3">
                    <c:v>HH (M)</c:v>
                  </c:pt>
                  <c:pt idx="4">
                    <c:v>Intangible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12.4</c:v>
                </c:pt>
                <c:pt idx="1">
                  <c:v>8.1</c:v>
                </c:pt>
                <c:pt idx="2">
                  <c:v>4.3</c:v>
                </c:pt>
                <c:pt idx="3">
                  <c:v>0.018</c:v>
                </c:pt>
                <c:pt idx="4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esperado (USD K)</c:v>
                </c:pt>
              </c:strCache>
            </c:strRef>
          </c:tx>
          <c:spPr>
            <a:solidFill>
              <a:srgbClr val="003D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Gestión de integridad</c:v>
                  </c:pt>
                  <c:pt idx="1">
                    <c:v>Automatización bombeo</c:v>
                  </c:pt>
                  <c:pt idx="2">
                    <c:v>Monitoreo remoto</c:v>
                  </c:pt>
                  <c:pt idx="3">
                    <c:v>Optimización de pozo</c:v>
                  </c:pt>
                  <c:pt idx="4">
                    <c:v>ERP integración campo</c:v>
                  </c:pt>
                  <c:pt idx="5">
                    <c:v>Predictivo fallas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950</c:v>
                </c:pt>
                <c:pt idx="1">
                  <c:v>5200</c:v>
                </c:pt>
                <c:pt idx="2">
                  <c:v>3500</c:v>
                </c:pt>
                <c:pt idx="3">
                  <c:v>1200</c:v>
                </c:pt>
                <c:pt idx="4">
                  <c:v>1300</c:v>
                </c:pt>
                <c:pt idx="5">
                  <c:v>4100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Gasto acumulado (USD K)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Gestión de integridad</c:v>
                  </c:pt>
                  <c:pt idx="1">
                    <c:v>Automatización bombeo</c:v>
                  </c:pt>
                  <c:pt idx="2">
                    <c:v>Monitoreo remoto</c:v>
                  </c:pt>
                  <c:pt idx="3">
                    <c:v>Optimización de pozo</c:v>
                  </c:pt>
                  <c:pt idx="4">
                    <c:v>ERP integración campo</c:v>
                  </c:pt>
                  <c:pt idx="5">
                    <c:v>Predictivo fallas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</c:v>
                </c:pt>
                <c:pt idx="1">
                  <c:v>620</c:v>
                </c:pt>
                <c:pt idx="2">
                  <c:v>420</c:v>
                </c:pt>
                <c:pt idx="3">
                  <c:v>180</c:v>
                </c:pt>
                <c:pt idx="4">
                  <c:v>210</c:v>
                </c:pt>
                <c:pt idx="5">
                  <c:v>850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3D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D3D3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Dimensión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3DA5"/>
              </a:solidFill>
              <a:effectLst/>
            </c:spPr>
          </c:dPt>
          <c:dPt>
            <c:idx val="1"/>
            <c:bubble3D val="0"/>
            <c:spPr>
              <a:solidFill>
                <a:srgbClr val="00843D"/>
              </a:solidFill>
              <a:effectLst/>
            </c:spPr>
          </c:dPt>
          <c:dPt>
            <c:idx val="2"/>
            <c:bubble3D val="0"/>
            <c:spPr>
              <a:solidFill>
                <a:srgbClr val="C8102E"/>
              </a:solidFill>
              <a:effectLst/>
            </c:spPr>
          </c:dPt>
          <c:dPt>
            <c:idx val="3"/>
            <c:bubble3D val="0"/>
            <c:spPr>
              <a:solidFill>
                <a:srgbClr val="FFB900"/>
              </a:solidFill>
              <a:effectLst/>
            </c:spPr>
          </c:dPt>
          <c:dPt>
            <c:idx val="4"/>
            <c:bubble3D val="0"/>
            <c:spPr>
              <a:solidFill>
                <a:srgbClr val="66666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Operaciones</c:v>
                </c:pt>
                <c:pt idx="1">
                  <c:v>Mantenimiento</c:v>
                </c:pt>
                <c:pt idx="2">
                  <c:v>Producción</c:v>
                </c:pt>
                <c:pt idx="3">
                  <c:v>HSE</c:v>
                </c:pt>
                <c:pt idx="4">
                  <c:v>Soporte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D3D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Iniciativas</c:v>
                </c:pt>
              </c:strCache>
            </c:strRef>
          </c:tx>
          <c:spPr>
            <a:solidFill>
              <a:srgbClr val="003D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VP Upstream</c:v>
                  </c:pt>
                  <c:pt idx="1">
                    <c:v>VP Midstream</c:v>
                  </c:pt>
                  <c:pt idx="2">
                    <c:v>VP Exploración</c:v>
                  </c:pt>
                  <c:pt idx="3">
                    <c:v>VP Corporativo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3D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 American Energy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de Transformación Digital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Resumen ejecutivo — Abril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2286000" cy="0"/>
          </a:xfrm>
          <a:prstGeom prst="line">
            <a:avLst/>
          </a:prstGeom>
          <a:noFill/>
          <a:ln w="38100">
            <a:solidFill>
              <a:srgbClr val="0084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Área Transformación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clave del portfolio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consolidado de todas las iniciativas activas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874520" cy="2194560"/>
          </a:xfrm>
          <a:prstGeom prst="rect">
            <a:avLst/>
          </a:prstGeom>
          <a:solidFill>
            <a:srgbClr val="F5F4ED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1874520" cy="45720"/>
          </a:xfrm>
          <a:prstGeom prst="rect">
            <a:avLst/>
          </a:prstGeom>
          <a:solidFill>
            <a:srgbClr val="003DA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7830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68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85800" y="3063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Iniciativas activas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06040" y="1463040"/>
            <a:ext cx="1874520" cy="2194560"/>
          </a:xfrm>
          <a:prstGeom prst="rect">
            <a:avLst/>
          </a:prstGeom>
          <a:solidFill>
            <a:srgbClr val="F5F4ED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06040" y="1463040"/>
            <a:ext cx="1874520" cy="45720"/>
          </a:xfrm>
          <a:prstGeom prst="rect">
            <a:avLst/>
          </a:prstGeom>
          <a:solidFill>
            <a:srgbClr val="0084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7830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2468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USD 18.2M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2743200" y="3063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esperado total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1463040"/>
            <a:ext cx="1874520" cy="2194560"/>
          </a:xfrm>
          <a:prstGeom prst="rect">
            <a:avLst/>
          </a:prstGeom>
          <a:solidFill>
            <a:srgbClr val="F5F4ED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1463040"/>
            <a:ext cx="1874520" cy="45720"/>
          </a:xfrm>
          <a:prstGeom prst="rect">
            <a:avLst/>
          </a:prstGeom>
          <a:solidFill>
            <a:srgbClr val="003DA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7830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0600" y="2468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USD 2.8M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4800600" y="3063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Gasto acumulado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20840" y="1463040"/>
            <a:ext cx="1874520" cy="2194560"/>
          </a:xfrm>
          <a:prstGeom prst="rect">
            <a:avLst/>
          </a:prstGeom>
          <a:solidFill>
            <a:srgbClr val="F5F4ED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20840" y="1463040"/>
            <a:ext cx="1874520" cy="45720"/>
          </a:xfrm>
          <a:prstGeom prst="rect">
            <a:avLst/>
          </a:prstGeom>
          <a:solidFill>
            <a:srgbClr val="C810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7830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2468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6858000" y="3063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Gates pendientes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solidFill>
            <a:srgbClr val="F5F4E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6052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40690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promedio del portfolio: 7.4x   |   3 iniciativas con gate en los próximos 30 días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Distribución por etapa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de maduración de iniciativas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71600"/>
            <a:ext cx="3017520" cy="3200400"/>
          </a:xfrm>
          <a:prstGeom prst="rect">
            <a:avLst/>
          </a:prstGeom>
          <a:solidFill>
            <a:srgbClr val="F5F4ED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consolidado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0" y="2103120"/>
            <a:ext cx="109728" cy="502920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8" name="Text 5"/>
          <p:cNvSpPr/>
          <p:nvPr/>
        </p:nvSpPr>
        <p:spPr>
          <a:xfrm>
            <a:off x="6263640" y="2057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26364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progreso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2880360"/>
            <a:ext cx="109728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26364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Pendiente gate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3657600"/>
            <a:ext cx="109728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3611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26364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Pausadas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Corrientes de valor — beneficio bruto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Proyección año 1 consolidada (en millones USD)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8046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Ranking de iniciativas — valor vs gasto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Ordenado por ROI descendente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1371600"/>
                <a:gridCol w="1188720"/>
                <a:gridCol w="73152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INICIATIVA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ETAPA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VALOR ESP.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GASTO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ESTADO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Gestión de integridad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3DA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MVP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USD 950K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USD 95K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10x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4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Automatización bombeo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3DA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Dim.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USD 5.2M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USD 620K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8.4x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4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Monitoreo remoto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3DA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Dim.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USD 3.5M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USD 420K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8.3x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Gate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Optimización de pozo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4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Del.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USD 1.2M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USD 180K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6.7x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4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ERP integración campo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4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Del.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USD 1.3M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USD 210K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6.2x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4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Predictivo fallas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3DA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MVP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USD 4.1M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USD 850K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4.8x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4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E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ROI = Valor esperado / Gasto acumulado. Estado: OK = en curso sin bloqueo, Gate = pendiente aprobación.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esperado vs Gasto por iniciativa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Comparación directa en miles de USD — ordenado por ROI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8046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eventos — abril / mayo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Hitos, gates y revisiones programados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7680960" cy="0"/>
          </a:xfrm>
          <a:prstGeom prst="line">
            <a:avLst/>
          </a:prstGeom>
          <a:noFill/>
          <a:ln w="254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19456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Optim. pozo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abr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2194560"/>
            <a:ext cx="365760" cy="365760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Rev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Monitoreo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0" y="3291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abr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219456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Autom. bombeo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31920" y="3291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abr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97880" y="2194560"/>
            <a:ext cx="365760" cy="365760"/>
          </a:xfrm>
          <a:prstGeom prst="ellipse">
            <a:avLst/>
          </a:prstGeom>
          <a:solidFill>
            <a:srgbClr val="00843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LTP Plan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 integr.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3291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52360" y="2194560"/>
            <a:ext cx="365760" cy="365760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Seg. Q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40880" y="3291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may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F5F4ED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114800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88720" y="39319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gates requieren voto en los próximos 30 días. Revisar aprobaciones pendientes en la plataforma.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Distribución por dimensión y vicepresidencia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dimensión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554480"/>
          <a:ext cx="39319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vicepresidencia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754880" y="155448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 American Energy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de Gestión de Portfolio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828800" cy="0"/>
          </a:xfrm>
          <a:prstGeom prst="line">
            <a:avLst/>
          </a:prstGeom>
          <a:noFill/>
          <a:ln w="38100">
            <a:solidFill>
              <a:srgbClr val="0084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Generado automáticamente desde la plataforma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Área de Transformación Digital — Abril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Transformación Digital — Resumen</dc:title>
  <dc:subject>PptxGenJS Presentation</dc:subject>
  <dc:creator>Plataforma PAE</dc:creator>
  <cp:lastModifiedBy>Plataforma PAE</cp:lastModifiedBy>
  <cp:revision>1</cp:revision>
  <dcterms:created xsi:type="dcterms:W3CDTF">2026-04-21T20:27:53Z</dcterms:created>
  <dcterms:modified xsi:type="dcterms:W3CDTF">2026-04-21T20:27:53Z</dcterms:modified>
</cp:coreProperties>
</file>