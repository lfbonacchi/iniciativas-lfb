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914400"/>
            <a:ext cx="1463040" cy="320040"/>
          </a:xfrm>
          <a:prstGeom prst="roundedRectangle">
            <a:avLst>
              <a:gd name="adj" fmla="val 14286"/>
            </a:avLst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ETAPA 1 — PROPUESTA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Optimización Predictiva de Pozos Maduros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Dimensión: Producción  |  UG: Upstream — Área Norte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Tipo: Resultado  |  Abril 2026  |  v1.0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778240" y="731520"/>
            <a:ext cx="45720" cy="3200400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5034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 American Energy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Plataforma de Gestión de Portfolio — Transformación Digital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766560" y="45034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Gateway 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20040" cy="320040"/>
          </a:xfrm>
          <a:prstGeom prst="oval">
            <a:avLst/>
          </a:prstGeom>
          <a:solidFill>
            <a:srgbClr val="003DA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Propósito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45720" cy="3200400"/>
          </a:xfrm>
          <a:prstGeom prst="rect">
            <a:avLst/>
          </a:prstGeom>
          <a:solidFill>
            <a:srgbClr val="003DA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914400"/>
            <a:ext cx="78181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los ingenieros de producción y supervisores de campo quienes necesitan anticipar fallas y optimizar la extracción en pozos maduros del Área Norte.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Sistema de Optimización Predictiva es una plataforma de monitoreo inteligente que permite reducir intervenciones no planificadas y maximizar la producción mediante modelos de machine learning aplicados a datos de sensores de fondo de pozo.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diferencia del monitoreo manual actual basado en inspecciones periódicas, nuestro sistema entrega alertas tempranas con 72hs de anticipación y recomendaciones de ajuste automáticas.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732020"/>
            <a:ext cx="80467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 American Energy — Transformación Digital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223760" y="47777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11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20040" cy="320040"/>
          </a:xfrm>
          <a:prstGeom prst="oval">
            <a:avLst/>
          </a:prstGeom>
          <a:solidFill>
            <a:srgbClr val="003DA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Indicadores de Impacto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0467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560320"/>
                <a:gridCol w="1463040"/>
                <a:gridCol w="822960"/>
                <a:gridCol w="914400"/>
                <a:gridCol w="64008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Stakeholder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KPI (Indicador de Impacto)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Métrica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Inicio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Target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Prior.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Ingeniero de producción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Incrementar MTBF en bombeo electrosumergible mediante anticipación de fallas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MTBF (Mean Time Between Failures)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145 días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84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220 días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810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Alta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Supervisor de campo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Reducir intervenciones correctivas no planificadas en pozos maduros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% intervenciones no planificadas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62%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84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25%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810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Alta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Gerente de producción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Recuperar producción incremental en pozos maduros con visibilidad predictiva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Producción incremental (m³/año)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84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+8.000 m³/año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3DA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Media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VP Upstream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Reducir OPEX de mantenimiento por pozo migrando de reactivo a predictivo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OPEX mantenimiento (USD/pozo/año)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USD 85K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84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USD 55K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3DA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Media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732020"/>
            <a:ext cx="80467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 American Energy — Transformación Digital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7223760" y="47777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11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20040" cy="320040"/>
          </a:xfrm>
          <a:prstGeom prst="oval">
            <a:avLst/>
          </a:prstGeom>
          <a:solidFill>
            <a:srgbClr val="003DA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Alineación Estratégica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 iniciativa se alinea directamente con el Desafío Estratégico de Eficiencia Operativa del Upstream y el Proyecto de Digitalización de Operaciones de Campo. Contribuye al objetivo corporativo de reducción de OPEX en un 15% a 2028.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Está vinculada a la Dimensión de Producción existente, donde se integraría como un nuevo producto dentro del portfolio de herramientas digitales de campo.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3886200" cy="8229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383280"/>
            <a:ext cx="45720" cy="8229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8328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DESAFÍO ESTRATÉGICO</a:t>
            </a:r>
            <a:endParaRPr lang="en-US" sz="8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Eficiencia Operativa del Upstream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709160" y="3383280"/>
            <a:ext cx="3886200" cy="8229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3383280"/>
            <a:ext cx="45720" cy="822960"/>
          </a:xfrm>
          <a:prstGeom prst="rect">
            <a:avLst/>
          </a:prstGeom>
          <a:solidFill>
            <a:srgbClr val="003DA5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338328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3D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PROYECTO</a:t>
            </a:r>
            <a:endParaRPr lang="en-US" sz="800" dirty="0"/>
          </a:p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Digitalización de Operaciones de Campo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" y="4732020"/>
            <a:ext cx="80467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 American Energy — Transformación Digital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223760" y="47777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11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20040" cy="320040"/>
          </a:xfrm>
          <a:prstGeom prst="oval">
            <a:avLst/>
          </a:prstGeom>
          <a:solidFill>
            <a:srgbClr val="003DA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Descripción de la Iniciativa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Estrategia y beneficios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Implementar un sistema de monitoreo predictivo que ingeste datos de sensores ESP (presión, temperatura, vibración, amperaje) cada 15 minutos, aplique modelos de ML entrenados con datos históricos de 3 años, y genere alertas tempranas + recomendaciones de ajuste de parámetros operativos.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Alcance inicial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2801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Fase inicial: 50 pozos maduros con ESP del Área Norte (Cerro Dragón). Procesos alcanzados: monitoreo de bombeo, planificación de intervenciones, ajuste de frecuencia de variador.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80467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4747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Interdependencias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 de la disponibilidad de datos del sistema SCADA existente y de la infraestructura de conectividad de campo (proyecto de fibra óptica en curso). Coordinación con el equipo de Integridad de Pozos para validación de modelos.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0" y="34747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4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Escalabilidad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0" y="3749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Potencial de expansión a 300+ pozos en Área Norte y Sur. Replicable a otros métodos de extracción (bombeo mecánico, plunger lift). Posibilidad de integración con optimización de redes de recolección.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4732020"/>
            <a:ext cx="80467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 American Energy — Transformación Digital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223760" y="47777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11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20040" cy="320040"/>
          </a:xfrm>
          <a:prstGeom prst="oval">
            <a:avLst/>
          </a:prstGeom>
          <a:solidFill>
            <a:srgbClr val="003DA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Impacto Económico — Corrientes de Valor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499360" cy="109728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143000"/>
            <a:ext cx="182880" cy="182880"/>
          </a:xfrm>
          <a:prstGeom prst="oval">
            <a:avLst/>
          </a:prstGeom>
          <a:solidFill>
            <a:srgbClr val="00843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430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60120" y="1097280"/>
            <a:ext cx="195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PRODUCCIÓN (m³)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1645920"/>
            <a:ext cx="195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84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impacto esperado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322320" y="1005840"/>
            <a:ext cx="2499360" cy="109728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9480" y="1143000"/>
            <a:ext cx="182880" cy="182880"/>
          </a:xfrm>
          <a:prstGeom prst="oval">
            <a:avLst/>
          </a:prstGeom>
          <a:solidFill>
            <a:srgbClr val="00843D"/>
          </a:solidFill>
          <a:ln/>
        </p:spPr>
      </p:sp>
      <p:sp>
        <p:nvSpPr>
          <p:cNvPr id="12" name="Text 10"/>
          <p:cNvSpPr/>
          <p:nvPr/>
        </p:nvSpPr>
        <p:spPr>
          <a:xfrm>
            <a:off x="3459480" y="11430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733800" y="1097280"/>
            <a:ext cx="195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OPEX (M USD)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33800" y="1645920"/>
            <a:ext cx="195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84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impacto esperado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096000" y="1005840"/>
            <a:ext cx="2499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33160" y="1143000"/>
            <a:ext cx="182880" cy="182880"/>
          </a:xfrm>
          <a:prstGeom prst="oval">
            <a:avLst/>
          </a:prstGeom>
          <a:solidFill>
            <a:srgbClr val="E8E8E8"/>
          </a:solidFill>
          <a:ln/>
        </p:spPr>
      </p:sp>
      <p:sp>
        <p:nvSpPr>
          <p:cNvPr id="17" name="Text 15"/>
          <p:cNvSpPr/>
          <p:nvPr/>
        </p:nvSpPr>
        <p:spPr>
          <a:xfrm>
            <a:off x="6233160" y="11430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07480" y="1097280"/>
            <a:ext cx="195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CAPEX (M USD)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377440"/>
            <a:ext cx="2499360" cy="109728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2514600"/>
            <a:ext cx="182880" cy="182880"/>
          </a:xfrm>
          <a:prstGeom prst="oval">
            <a:avLst/>
          </a:prstGeom>
          <a:solidFill>
            <a:srgbClr val="00843D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5146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60120" y="2468880"/>
            <a:ext cx="195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PRODUCTIVIDAD (HH)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" y="3017520"/>
            <a:ext cx="195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84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impacto esperado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322320" y="2377440"/>
            <a:ext cx="2499360" cy="109728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59480" y="2514600"/>
            <a:ext cx="182880" cy="182880"/>
          </a:xfrm>
          <a:prstGeom prst="oval">
            <a:avLst/>
          </a:prstGeom>
          <a:solidFill>
            <a:srgbClr val="00843D"/>
          </a:solidFill>
          <a:ln/>
        </p:spPr>
      </p:sp>
      <p:sp>
        <p:nvSpPr>
          <p:cNvPr id="26" name="Text 24"/>
          <p:cNvSpPr/>
          <p:nvPr/>
        </p:nvSpPr>
        <p:spPr>
          <a:xfrm>
            <a:off x="3459480" y="25146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733800" y="2468880"/>
            <a:ext cx="195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EXP. AL RIESGO (%)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33800" y="3017520"/>
            <a:ext cx="195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84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impacto esperado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96000" y="2377440"/>
            <a:ext cx="2499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33160" y="2514600"/>
            <a:ext cx="182880" cy="182880"/>
          </a:xfrm>
          <a:prstGeom prst="oval">
            <a:avLst/>
          </a:prstGeom>
          <a:solidFill>
            <a:srgbClr val="E8E8E8"/>
          </a:solidFill>
          <a:ln/>
        </p:spPr>
      </p:sp>
      <p:sp>
        <p:nvSpPr>
          <p:cNvPr id="31" name="Text 29"/>
          <p:cNvSpPr/>
          <p:nvPr/>
        </p:nvSpPr>
        <p:spPr>
          <a:xfrm>
            <a:off x="6233160" y="25146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507480" y="2468880"/>
            <a:ext cx="195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EMISIONES (MTnCO2 Eq)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3749040"/>
            <a:ext cx="2499360" cy="109728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" y="3886200"/>
            <a:ext cx="182880" cy="182880"/>
          </a:xfrm>
          <a:prstGeom prst="oval">
            <a:avLst/>
          </a:prstGeom>
          <a:solidFill>
            <a:srgbClr val="00843D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" y="38862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60120" y="3840480"/>
            <a:ext cx="195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CONS. ENERGÍA (MW)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60120" y="4389120"/>
            <a:ext cx="195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84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impacto esperado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Etapa 2 (Dimensionamiento) se detallan valores cuantificados a 5 años por corriente y palanca de valor.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8640" y="4732020"/>
            <a:ext cx="80467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 American Energy — Transformación Digital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223760" y="47777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11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20040" cy="320040"/>
          </a:xfrm>
          <a:prstGeom prst="oval">
            <a:avLst/>
          </a:prstGeom>
          <a:solidFill>
            <a:srgbClr val="003DA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del Cambio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Desafíos identificados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Adopción por parte de supervisores de campo con baja madurez digital. Resistencia al cambio en procesos de decisión que hoy son manuales y basados en experiencia. Necesidad de capacitación en interpretación de dashboards predictivos. Integración cultural del dato como insumo para la toma de decisiones operativas.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D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Áreas participantes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804672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30175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Área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Tipo de involucramiento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Producción — Área Norte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3DA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Involucrada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Ingeniería de Reservorios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3DA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Involucrada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IT — Infraestructura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3DA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Involucrada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Mantenimiento de Pozos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84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Interesada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Planificación Upstream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84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Interesada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HSE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84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Interesada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732020"/>
            <a:ext cx="80467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 American Energy — Transformación Digital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7223760" y="47777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11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20040" cy="320040"/>
          </a:xfrm>
          <a:prstGeom prst="oval">
            <a:avLst/>
          </a:prstGeom>
          <a:solidFill>
            <a:srgbClr val="003DA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Journey / Hitos Preliminares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7589520" cy="0"/>
          </a:xfrm>
          <a:prstGeom prst="line">
            <a:avLst/>
          </a:prstGeom>
          <a:noFill/>
          <a:ln w="25400">
            <a:solidFill>
              <a:srgbClr val="003D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2176272"/>
            <a:ext cx="219456" cy="219456"/>
          </a:xfrm>
          <a:prstGeom prst="oval">
            <a:avLst/>
          </a:prstGeom>
          <a:solidFill>
            <a:srgbClr val="0084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76272"/>
            <a:ext cx="0" cy="27432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0078" y="1097280"/>
            <a:ext cx="121432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3D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 2026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Kick-off y relevamiento de datos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185416" y="2176272"/>
            <a:ext cx="219456" cy="219456"/>
          </a:xfrm>
          <a:prstGeom prst="oval">
            <a:avLst/>
          </a:prstGeom>
          <a:solidFill>
            <a:srgbClr val="003DA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95144" y="2395728"/>
            <a:ext cx="0" cy="27432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87982" y="2606040"/>
            <a:ext cx="121432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3D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 2026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— Modelo predictivo para 10 pozos piloto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703320" y="2176272"/>
            <a:ext cx="219456" cy="219456"/>
          </a:xfrm>
          <a:prstGeom prst="oval">
            <a:avLst/>
          </a:prstGeom>
          <a:solidFill>
            <a:srgbClr val="9999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13048" y="2176272"/>
            <a:ext cx="0" cy="27432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5886" y="1097280"/>
            <a:ext cx="121432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3D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 2026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Validación en campo + ajuste de modelos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221224" y="2176272"/>
            <a:ext cx="219456" cy="219456"/>
          </a:xfrm>
          <a:prstGeom prst="oval">
            <a:avLst/>
          </a:prstGeom>
          <a:solidFill>
            <a:srgbClr val="9999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30952" y="2395728"/>
            <a:ext cx="0" cy="27432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3790" y="2606040"/>
            <a:ext cx="121432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3D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Feb 2027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Rollout a 50 pozos Área Norte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39128" y="2176272"/>
            <a:ext cx="219456" cy="219456"/>
          </a:xfrm>
          <a:prstGeom prst="oval">
            <a:avLst/>
          </a:prstGeom>
          <a:solidFill>
            <a:srgbClr val="9999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48856" y="2176272"/>
            <a:ext cx="0" cy="27432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41694" y="1097280"/>
            <a:ext cx="121432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3D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 2027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Integración con SCADA + alertas automáticas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Fechas preliminares sujetas a cambios por alcance, bloqueantes o prioridades.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8640" y="4732020"/>
            <a:ext cx="80467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 American Energy — Transformación Digital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223760" y="47777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11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20040" cy="320040"/>
          </a:xfrm>
          <a:prstGeom prst="oval">
            <a:avLst/>
          </a:prstGeom>
          <a:solidFill>
            <a:srgbClr val="003DA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Equipo de Trabajo — Etapa Propuesta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D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Equipo Propuesta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2377440"/>
                <a:gridCol w="22860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Rol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Nombre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Posición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VP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A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Promotor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Alejandro Torres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Gte. Producción Norte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VP Upstream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Líder Técnico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María López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Ing. Senior Reservorios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VP Upstream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 Scientist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Pablo Fernández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Analista de Datos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VP Tecnología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Referente IT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Carolina Ruiz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Arq. de Soluciones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VP Tecnología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27432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4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Equipo Metodología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2377440"/>
                <a:gridCol w="22860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Rol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4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Nombre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4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Posición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4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VP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43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Scrum Master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Laura Vázquez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SM Senior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VP Tecnología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Facilitador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Diego Romero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Consultor IVD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VP Tecnología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732020"/>
            <a:ext cx="80467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 American Energy — Transformación Digital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7223760" y="47777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11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20040" cy="320040"/>
          </a:xfrm>
          <a:prstGeom prst="oval">
            <a:avLst/>
          </a:prstGeom>
          <a:solidFill>
            <a:srgbClr val="003DA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2743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Responsables — Gateway 1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2286000"/>
                <a:gridCol w="21031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Rol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Nombre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Posición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Área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Sponsor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Ricardo Méndez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VP Upstream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Upstream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Business Owner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Julián García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Dir. Producción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Producción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Área Transf.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Martina Delgado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Coord. Transf. Digital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Transformación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Portfolio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Sebastián Ortiz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Líder Portfolio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Transformación</a:t>
                      </a:r>
                      <a:endParaRPr lang="en-US" sz="9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291840"/>
            <a:ext cx="804672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291840"/>
            <a:ext cx="45720" cy="7315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32918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Resolución por unanimidad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los aprobadores deben votar para resolver el gateway. Estados posibles: Aprobado, Feedback (vuelve al editor), Pausa, Rechazado, Cambio de área.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4732020"/>
            <a:ext cx="80467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 American Energy — Transformación Digital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7223760" y="47777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11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Próximos Pasos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74320" cy="274320"/>
          </a:xfrm>
          <a:prstGeom prst="oval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Presentación en reunión de Gateway 1 con sponsors y stakeholders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274320" cy="274320"/>
          </a:xfrm>
          <a:prstGeom prst="oval">
            <a:avLst/>
          </a:prstGeom>
          <a:solidFill>
            <a:srgbClr val="003DA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Obtener aprobación unánime para avanzar a Etapa 2 — Dimensionamiento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274320" cy="274320"/>
          </a:xfrm>
          <a:prstGeom prst="oval">
            <a:avLst/>
          </a:prstGeom>
          <a:solidFill>
            <a:srgbClr val="003DA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6517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Definir líder de siguiente etapa (Promotor, LD o PO)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74320" cy="274320"/>
          </a:xfrm>
          <a:prstGeom prst="oval">
            <a:avLst/>
          </a:prstGeom>
          <a:solidFill>
            <a:srgbClr val="003DA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46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32461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Asignar equipo de dimensionamiento y aprobadores para Gateway 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274320" cy="274320"/>
          </a:xfrm>
          <a:prstGeom prst="oval">
            <a:avLst/>
          </a:prstGeom>
          <a:solidFill>
            <a:srgbClr val="003DA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38404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Iniciar relevamiento técnico detallado y estudio de factibilidad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778240" y="731520"/>
            <a:ext cx="45720" cy="3200400"/>
          </a:xfrm>
          <a:prstGeom prst="rect">
            <a:avLst/>
          </a:prstGeom>
          <a:solidFill>
            <a:srgbClr val="00843D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5034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 American Energy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47777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Optimización Predictiva de Pozos Maduros — Propuesta — Abril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— Optimización Predictiva de Pozos Maduros</dc:title>
  <dc:subject>Formulario F1 para Gateway 1</dc:subject>
  <dc:creator>Plataforma PAE — Gestión de Portfolio</dc:creator>
  <cp:lastModifiedBy>Plataforma PAE — Gestión de Portfolio</cp:lastModifiedBy>
  <cp:revision>1</cp:revision>
  <dcterms:created xsi:type="dcterms:W3CDTF">2026-04-21T21:32:19Z</dcterms:created>
  <dcterms:modified xsi:type="dcterms:W3CDTF">2026-04-21T21:32:19Z</dcterms:modified>
</cp:coreProperties>
</file>