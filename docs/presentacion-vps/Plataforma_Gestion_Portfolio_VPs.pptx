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PAN AMERICAN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058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800" b="1">
                <a:solidFill>
                  <a:srgbClr val="003DA5"/>
                </a:solidFill>
                <a:latin typeface="Inter"/>
              </a:rPr>
              <a:t>Plataforma de Gestión</a:t>
            </a:r>
          </a:p>
          <a:p>
            <a:pPr algn="l"/>
            <a:r>
              <a:rPr sz="4800" b="1">
                <a:solidFill>
                  <a:srgbClr val="003DA5"/>
                </a:solidFill>
                <a:latin typeface="Inter"/>
              </a:rPr>
              <a:t>de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Inter"/>
              </a:rPr>
              <a:t>Una herramienta centralizada para proponer, evaluar, aprobar y dar</a:t>
            </a:r>
          </a:p>
          <a:p>
            <a:pPr algn="l"/>
            <a:r>
              <a:rPr sz="1600" b="0">
                <a:solidFill>
                  <a:srgbClr val="666666"/>
                </a:solidFill>
                <a:latin typeface="Inter"/>
              </a:rPr>
              <a:t>seguimiento a las iniciativas de transformación digital de PAE.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937760"/>
            <a:ext cx="3474720" cy="1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074920"/>
            <a:ext cx="5486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03DA5"/>
                </a:solidFill>
                <a:latin typeface="Inter"/>
              </a:rPr>
              <a:t>Presentación a Vicepresidencias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Inter"/>
              </a:rPr>
              <a:t>Área de Transformación Digital  |  Abril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El problema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Por qué existe esta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000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Inter"/>
              </a:rPr>
              <a:t>Sin centralización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93392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Documentos Word sueltos, emails dispersos y reuniones sin registro estandarizado.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Cada área propone y gestiona iniciativas con su propio formato.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15768"/>
            <a:ext cx="5000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825496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Inter"/>
              </a:rPr>
              <a:t>Sin trazabilidad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Los formularios se pierden, se duplican o se desactualizan. No hay historial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de cambios, ni versión final firmada, ni una fuente única de verdad.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77056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77056"/>
            <a:ext cx="5000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867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Inter"/>
              </a:rPr>
              <a:t>Sin visibilidad ejecutiva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15968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Los VPs y sponsors no tienen una vista consolidada del portfolio: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estado, valor esperado, gasto acumulado, gates pendientes.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38344"/>
            <a:ext cx="112471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38344"/>
            <a:ext cx="5000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48072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C8102E"/>
                </a:solidFill>
                <a:latin typeface="Inter"/>
              </a:rPr>
              <a:t>Proceso de aprobación informal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477256"/>
            <a:ext cx="1078992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Las decisiones de seguir/pausar/rechazar una iniciativa se toman en reuniones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sin registro estructurado del feedback de cada aprobador.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Objetivo de la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Digitalizar y estandarizar el ciclo de vida de toda iniciativa de transformación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Digitalizar formularios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5 formularios digitales con wizard, carry-over automático y validación por sección.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55448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373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Gestionar gateways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3 gateways formales con unanimidad, 5 estados posibles y feedback trazable.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73736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Generar documentos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PPTX, PDF, Excel y notas de prensa generados con un click desde la app.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4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97764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Dashboards por 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Vistas diferenciadas para PO, Sponsor, VP, Business Owner y Área Transformación.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97764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97764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1605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Trazabilidad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70916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Historial de cambios, versiones firmadas (VF) y registro completo de aprobaciones.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977640"/>
            <a:ext cx="36576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977640"/>
            <a:ext cx="3657600" cy="45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160520"/>
            <a:ext cx="32918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Visión ejecutiva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709160"/>
            <a:ext cx="329184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KPIs consolidados del portfolio: valor, ROI, gasto, gates pendientes, distribución por etapa.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Usuarios y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~200 empleados internos de PAE. Dos capas de permisos combinadas.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3DA5"/>
                </a:solidFill>
                <a:latin typeface="Inter"/>
              </a:rPr>
              <a:t>Capa 1 — Perfil global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65960"/>
            <a:ext cx="11247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57400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57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Empleado estándar. Propone iniciativas y participa según su rol por iniciativa.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32888"/>
            <a:ext cx="11247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Área Transformación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2432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Vista global del portfolio, administra permisos y facilita gateways.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99816"/>
            <a:ext cx="11247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191256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191256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Gestiona usuarios, permisos y configuración global.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66744"/>
            <a:ext cx="11247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758184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VP / Sponsor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758184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Detectado automáticamente. Vista ejecutiva y aprobaciones.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3DA5"/>
                </a:solidFill>
                <a:latin typeface="Inter"/>
              </a:rPr>
              <a:t>Capa 2 — Rol por iniciativa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Promotor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0312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Líder de Dimensionamiento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Product Owner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Business Owner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Sponsor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Scrum Master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332720" y="4892040"/>
            <a:ext cx="1600200" cy="45720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0" y="4983480"/>
            <a:ext cx="1600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Equipo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Row-level security: cada función de acceso a datos verifica permisos del usuario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sobre cada iniciativa. Un usuario solo ve lo que le corresponde por su combinación de roles.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Ciclo de vida de una iniciativa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3 etapas secuenciales con gateway + 2 ciclos anuales sin gateway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103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2103120" cy="3200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Etapa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3DA5"/>
                </a:solidFill>
                <a:latin typeface="Inter"/>
              </a:rPr>
              <a:t>Propuesta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F1 + G1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5320" y="2240280"/>
            <a:ext cx="12716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80" y="1691640"/>
            <a:ext cx="2103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691640"/>
            <a:ext cx="2103120" cy="3200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737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Etapa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194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3DA5"/>
                </a:solidFill>
                <a:latin typeface="Inter"/>
              </a:rPr>
              <a:t>Dimensionamiento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6974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F2 + G2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05600" y="2240280"/>
            <a:ext cx="12716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1691640"/>
            <a:ext cx="2103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D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1691640"/>
            <a:ext cx="2103120" cy="32004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1737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Etapa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2194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3DA5"/>
                </a:solidFill>
                <a:latin typeface="Inter"/>
              </a:rPr>
              <a:t>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6974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F3 + G3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45880" y="2240280"/>
            <a:ext cx="12716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78040" y="1691640"/>
            <a:ext cx="2103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78040" y="1691640"/>
            <a:ext cx="2103120" cy="32004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1737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Ciclo anual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2194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843D"/>
                </a:solidFill>
                <a:latin typeface="Inter"/>
              </a:rPr>
              <a:t>Visión 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6974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F4 (sin gateway)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286160" y="2240280"/>
            <a:ext cx="12716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18320" y="1691640"/>
            <a:ext cx="21031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18320" y="1691640"/>
            <a:ext cx="2103120" cy="32004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1737360"/>
            <a:ext cx="2103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Ciclo anual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2194560"/>
            <a:ext cx="21031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00843D"/>
                </a:solidFill>
                <a:latin typeface="Inter"/>
              </a:rPr>
              <a:t>Planificación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2697480"/>
            <a:ext cx="2103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F5 (sin gateway)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3DA5"/>
                </a:solidFill>
                <a:latin typeface="Inter"/>
              </a:rPr>
              <a:t>Dos caminos de entrada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86200"/>
            <a:ext cx="5486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977639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Camino A — Iniciativa nueva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29768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F1 → G1 → F1 VF → F2 → G2 → F2 VF → F3 → G3 → F3 VF → F4 → F5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886200"/>
            <a:ext cx="54864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977639"/>
            <a:ext cx="51206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843D"/>
                </a:solidFill>
                <a:latin typeface="Inter"/>
              </a:rPr>
              <a:t>Camino B — Iniciativa existente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297680"/>
            <a:ext cx="51206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Importar → F4 (ciclo anual) → F5 (ciclo anual)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Muchas iniciativas no pasan por Etapa 1/2/3.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5 estados posibles en cada gateway (unanimidad requerida)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669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760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Aprobado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0" y="5669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43200" y="5760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Feedback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5669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5760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Pausa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5669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0" y="5760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Rechazado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601200" y="5669280"/>
            <a:ext cx="2194560" cy="50292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57607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Inter"/>
              </a:rPr>
              <a:t>Cambio de área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Los 5 formularios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Cada formulario digital replica exactamente los Word originales de PAE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60000" cy="9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F1 — Propuesta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1691640"/>
            <a:ext cx="1280160" cy="32004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1737360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Gateway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Problema, oportunidad, valor estratégico, alineación con objetivos PAE.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9 secciones. Al aprobarse se firma como F1 VF y habilita F2.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32888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32888"/>
            <a:ext cx="60000" cy="9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642616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F2 — Dimensionamiento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670048"/>
            <a:ext cx="1280160" cy="32004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715768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Gateway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990088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Factibilidad técnica, costos, equipo, riesgos, cronograma.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Hereda automáticamente de F1 VF. Al aprobarse habilita F3.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11296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511296"/>
            <a:ext cx="60000" cy="9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621024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F3 — MVP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31920" y="3648456"/>
            <a:ext cx="1280160" cy="32004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694176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Gateway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68496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Planificación y documentación del MVP. Resultados obtenidos vs esperados.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Hereda de F2 VF. Al aprobarse pasa a ciclo anual F4/F5.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89704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489704"/>
            <a:ext cx="60000" cy="914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9943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843D"/>
                </a:solidFill>
                <a:latin typeface="Inter"/>
              </a:rPr>
              <a:t>F4 — Visión Anual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31920" y="4626864"/>
            <a:ext cx="1280160" cy="320040"/>
          </a:xfrm>
          <a:prstGeom prst="roundRect">
            <a:avLst>
              <a:gd name="adj" fmla="val 8000"/>
            </a:avLst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31920" y="4672584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Sin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946904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Visión del producto para el año siguiente. Trabajo constante con seguimiento.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Sponsor marca 'reviewed'. Se repite cada año.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468112"/>
            <a:ext cx="11247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468112"/>
            <a:ext cx="60000" cy="9144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778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843D"/>
                </a:solidFill>
                <a:latin typeface="Inter"/>
              </a:rPr>
              <a:t>F5 — Planificación Anual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31920" y="5605272"/>
            <a:ext cx="1280160" cy="320040"/>
          </a:xfrm>
          <a:prstGeom prst="roundRect">
            <a:avLst>
              <a:gd name="adj" fmla="val 8000"/>
            </a:avLst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5650992"/>
            <a:ext cx="128016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</a:rPr>
              <a:t>Sin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925312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Entregables concretos + indicadores de seguimiento del año.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Hereda de F4 del mismo ciclo. Actualizaciones periódicas.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Motor de formularios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Cómo se completan las iniciativas en la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Wizard por secciones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Navegación vertical por steps. Cada sección se completa y guarda progresivamente.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Auto-save cada 30s + al perder foco (debounce 1s).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96896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Carry-over automático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F1 VF alimenta F2, F2 VF alimenta F3, F3 VF alimenta F4, F4 alimenta F5.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Campos heredados aparecen en gris, editables al hacer click.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9584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Subida de Word/Excel existentes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31336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La plataforma mapea automáticamente un documento existente contra el formulario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digital y señala los campos faltantes.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52544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62272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Control de cambios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64024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Historial tipo Google Docs con autor y fecha. La versión inicial y la VF se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conservan como versiones firmadas e inmutables.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85232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Validación estricta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96712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TypeScript + Zod validan cada input. No se puede enviar un gateway con campos</a:t>
            </a:r>
          </a:p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obligatorios incompletos.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Gateways de aprobación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El mecanismo formal de decisión del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Cómo funciona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Cada aprobador registra su voto + comentarios.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Se requiere unanimidad para aprobar.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Feedback se consolida en un documento único.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Prioridad de estados: reject &gt; pause &gt; area_change &gt; feedback &gt; pending &gt; approved.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Cada gateway define quién lidera la siguiente etapa y si se suman nuevos participantes.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828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Inter"/>
              </a:rPr>
              <a:t>La versión firmada (VF) queda como registro inmutable.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91640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03DA5"/>
                </a:solidFill>
                <a:latin typeface="Inter"/>
              </a:rPr>
              <a:t>5 estados posibles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24028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08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2860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Aprobado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28600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Todos los aprobadores votan a favor. Avanza a la siguiente etapa.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283464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8803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Feedback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880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Se solicitan ajustes. Vuelve al promotor y se re-envía.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342900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47472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Pausa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347472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Se congela temporalmente. Puede retomarse más adelante.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92240" y="402336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06908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Rechazado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0690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No avanza. Se cierra el caso con motivo.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4617720"/>
            <a:ext cx="1371600" cy="365760"/>
          </a:xfrm>
          <a:prstGeom prst="roundRect">
            <a:avLst>
              <a:gd name="adj" fmla="val 8000"/>
            </a:avLst>
          </a:prstGeom>
          <a:solidFill>
            <a:srgbClr val="003D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6634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Cambio de área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663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Reasigna la iniciativa a otra VP/área responsable.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Generación automática de documentos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Desde cualquier formulario, con un click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7315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~10 slides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brandbook PAE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Inter"/>
              </a:rPr>
              <a:t>pptxgenjs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37360"/>
            <a:ext cx="2743200" cy="7315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8745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6974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Formulario completo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con formato institucional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703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Inter"/>
              </a:rPr>
              <a:t>html2pdf.js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737360"/>
            <a:ext cx="2743200" cy="7315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974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Un tab por sección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del formulario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03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Inter"/>
              </a:rPr>
              <a:t>SheetJS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737360"/>
            <a:ext cx="27432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737360"/>
            <a:ext cx="2743200" cy="7315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87452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Inter"/>
              </a:rPr>
              <a:t>DOCX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97480"/>
            <a:ext cx="27432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Notas de prensa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(Working Backwards)</a:t>
            </a:r>
          </a:p>
          <a:p>
            <a:pPr algn="ctr"/>
            <a:r>
              <a:rPr sz="1200" b="0">
                <a:solidFill>
                  <a:srgbClr val="333333"/>
                </a:solidFill>
                <a:latin typeface="Inter"/>
              </a:rPr>
              <a:t>+ minutas de gateway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7033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999999"/>
                </a:solidFill>
                <a:latin typeface="Inter"/>
              </a:rPr>
              <a:t>docx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843D"/>
                </a:solidFill>
                <a:latin typeface="Inter"/>
              </a:rPr>
              <a:t>Ventaja clave: generación 100% en el browser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Todos los documentos se generan del lado del cliente, sin necesidad de servidor de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generación de archivos. En MVP se descargan localmente; en fase backend (post-MVP)</a:t>
            </a:r>
          </a:p>
          <a:p>
            <a:pPr algn="l"/>
            <a:r>
              <a:rPr sz="1100" b="0">
                <a:solidFill>
                  <a:srgbClr val="666666"/>
                </a:solidFill>
                <a:latin typeface="Inter"/>
              </a:rPr>
              <a:t>se archivarán automáticamente en SharePoint dentro de la carpeta de la iniciativa.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Dashboards por 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Cada usuario ve lo que necesita para su rol, sin ruido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6400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PO / Líder / Promotor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060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Iniciativas propias y participadas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Acciones pendientes + timeline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776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Edición de formularios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634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Estado actual de cada gateway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737360"/>
            <a:ext cx="2743200" cy="64008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900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Business Owner / Sponsor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26060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6060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Aprobaciones en gateways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32918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2918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Seguimiento de iniciativas patrocinadas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776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9776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Proponer cambios / 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6634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6634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Registro de decisiones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26480" y="1737360"/>
            <a:ext cx="27432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VP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6060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6060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Portfolio completo con filtros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2918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918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KPIs: valor, ROI, gasto, gates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9776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9776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Ranking de iniciativas por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6634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6634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Próximos hitos y gates pendientes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1737360"/>
            <a:ext cx="2743200" cy="64008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1874520"/>
            <a:ext cx="24688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Área Transformación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26060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843D"/>
                </a:solidFill>
                <a:latin typeface="Inter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6060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Overview de todas las VPs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32918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843D"/>
                </a:solidFill>
                <a:latin typeface="Inter"/>
              </a:rPr>
              <a:t>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2918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Administración de usuarios y roles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39776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843D"/>
                </a:solidFill>
                <a:latin typeface="Inter"/>
              </a:rPr>
              <a:t>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9776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Métricas globales del portfolio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663440"/>
            <a:ext cx="137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843D"/>
                </a:solidFill>
                <a:latin typeface="Inter"/>
              </a:rPr>
              <a:t>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26880" y="4663440"/>
            <a:ext cx="2286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Facilitación de gateways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Vista ejecutiva del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Lo que un VP ve cuando entra a la plataforma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Iniciativas activas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#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6916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69164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Valor esperado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19456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USD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69164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69164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Gasto acumulado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9456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USD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01752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Gates pendientes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5204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#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017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01752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31546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ROI promedio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5204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17520"/>
            <a:ext cx="36576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0" y="3017520"/>
            <a:ext cx="50000" cy="11887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315468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Inter"/>
              </a:rPr>
              <a:t>En progreso / Pausa / Rechazo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5204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#/#/#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26280"/>
            <a:ext cx="1124712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3DA5"/>
                </a:solidFill>
                <a:latin typeface="Inter"/>
              </a:rPr>
              <a:t>Otros elementos del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2920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02920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Distribución por etapa (F1 / F2 / F3 / F4 / F5) con cantidad de iniciativas en cada una.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30952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533095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Corrientes de valor — beneficio bruto proyectado del año consolidado.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632704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632704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Ranking de iniciativas por ROI descendente.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34456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C8102E"/>
                </a:solidFill>
                <a:latin typeface="Inter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934456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Próximos eventos: gateways programados, sprint reviews e hitos.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Alcance del MVP — Fase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Lo que la plataforma hace HOY (frontend-first, fases 2–4)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5 formularios digitales con wizard por secciones (F1, F2, F3, F4, F5)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84248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56816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Carry-over automático entre formularios + campos heredados editables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76856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49424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3 gateways con unanimidad, 5 estados posibles y feedback consolidado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9464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42032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Versión Firmada (VF) inmutable al aprobarse cada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62072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83464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Generación automática de PPTX, PDF, XLSX y DOCX (browser-side)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272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Dashboards diferenciados por rol (PO, Sponsor, VP, Área Transformación)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47288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419856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Vista ejecutiva del portfolio con KPIs, ROI, ranking y próximos eventos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39896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712464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Row-level security: cada usuario solo ve lo que le corresponde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691640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6420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Auto-save cada 30s + al perder foco — cero pérdida de trabajo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984248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956816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Control de cambios con historial (autor + fecha) tipo Google Docs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2276856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249424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Validación estricta con TypeScript + Zod en cada input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569464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542032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Notificaciones in-app con datos persistidos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862072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55080" y="283464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Dos caminos: iniciativa nueva (F1→G1→...) o existente (importar → F4/F5)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154680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3127248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Persistencia en localStorage (replica el modelo de datos final)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447288"/>
            <a:ext cx="50000" cy="2286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3419856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Mock auth con selector de usuario para demo y testing interno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Puntos de mejora — Post-MVP +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Todo lo que queda fuera del MVP actual y requiere la fase backend (Fase 5)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C8102E"/>
                </a:solidFill>
                <a:latin typeface="Inter"/>
              </a:rPr>
              <a:t>Fase 5 — Backend e infraestructura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00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Base de datos PostgreSQL + Prisma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993392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Reemplaza la persistencia localStorage. Habilita concurrencia real entre ~200 usuarios.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24328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624328"/>
            <a:ext cx="500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SSO con Microsoft Entra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697480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Reemplaza el mock auth. Login con cuenta corporativa PAE y permisos federados.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328416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328416"/>
            <a:ext cx="500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01568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Integración SharePoint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401568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Carpetas automáticas por iniciativa. Archivo de PPTX/PDF/XLSX/DOCX y de docs adicionales.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32504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32504"/>
            <a:ext cx="500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05656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Hosting AWS + red interna PAE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4105656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Deploy en infraestructura PAE. Acceso solo por VPN / red interna, nada expuesto a internet.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36592"/>
            <a:ext cx="112471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36592"/>
            <a:ext cx="5000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09744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Notificaciones por 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809744"/>
            <a:ext cx="6035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Complementa las in-app con emails automáticos en eventos clave del ciclo.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40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03DA5"/>
                </a:solidFill>
                <a:latin typeface="Inter"/>
              </a:rPr>
              <a:t>Funcionalidad post-MVP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06440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806440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Vision House (objetivos estratégicos de PAE vinculados a iniciativas)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007608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6007608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Cash outflow automatizado desde SAP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208776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6208776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Métricas de performance integradas con Jira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6409944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" y="6409944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Dashboards avanzados (proyecciones, cohortes, drill-down por VP)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611112"/>
            <a:ext cx="182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3DA5"/>
                </a:solidFill>
                <a:latin typeface="Inter"/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661111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Integraciones con otros sistemas internos (Power BI, Teams)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Stack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Fase actual vs Fase 5 (backend)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77840" cy="45720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5577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Fase actual (2–4) — Frontend-first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488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Next.js 15+ App Router, TypeScript estricto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Estilos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6974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Tailwind CSS con theme PAE (brandbook)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461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Persistencia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24612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localStorage (replica el modelo final)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947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Auth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79476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Mock: selector de usuario sin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Documentos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34340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pptxgenjs, SheetJS, html2pdf.js, docx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Validación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48920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Zod en todos los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406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0843D"/>
                </a:solidFill>
                <a:latin typeface="Inter"/>
              </a:rPr>
              <a:t>Notificaciones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54406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In-app con datos en localStorage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554480"/>
            <a:ext cx="557784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554480"/>
            <a:ext cx="5577840" cy="4572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1645920"/>
            <a:ext cx="55778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Fase 5 — Backend e infraestructura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1488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Frontend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21488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(se conserva sin cambios mayores)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Base de datos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6974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PostgreSQL + Prisma 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24612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Auth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24612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SSO con Microsoft Entra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7947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Storage docs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379476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SharePoint (carpetas automáticas)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434340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Hosting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434340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AWS sobre red interna PAE / VPN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89204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Notificaciones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8920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Outlook + in-app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4406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8102E"/>
                </a:solidFill>
                <a:latin typeface="Inter"/>
              </a:rPr>
              <a:t>Integraciones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544068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Inter"/>
              </a:rPr>
              <a:t>SAP, Jira, Power BI, Teams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Resultado esperado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Qué gana PAE con la plataforma en producción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2743200" cy="1645920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27432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843D"/>
                </a:solidFill>
                <a:latin typeface="Inter"/>
              </a:rPr>
              <a:t>Trazabilidad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22860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Ciclo completo desde la idea hasta F5 con historial de cambios y VFs firmadas.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1737360"/>
            <a:ext cx="2743200" cy="16459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2057400"/>
            <a:ext cx="27432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−70%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5661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3DA5"/>
                </a:solidFill>
                <a:latin typeface="Inter"/>
              </a:rPr>
              <a:t>Tiempo de gestión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4114800"/>
            <a:ext cx="22860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Eliminando documentos duplicados, emails, re-trabajo manual y re-ingreso de datos.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737360"/>
            <a:ext cx="2743200" cy="164592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057400"/>
            <a:ext cx="27432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Real-time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5661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003DA5"/>
                </a:solidFill>
                <a:latin typeface="Inter"/>
              </a:rPr>
              <a:t>Visibilidad ejecutiva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14800"/>
            <a:ext cx="22860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Estado del portfolio actualizado para VPs y sponsors en todo momento.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737360"/>
            <a:ext cx="274320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61120" y="1737360"/>
            <a:ext cx="2743200" cy="1645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2057400"/>
            <a:ext cx="27432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Inter"/>
              </a:rPr>
              <a:t>200+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56616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C8102E"/>
                </a:solidFill>
                <a:latin typeface="Inter"/>
              </a:rPr>
              <a:t>Usuarios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4114800"/>
            <a:ext cx="2286000" cy="1737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Inter"/>
              </a:rPr>
              <a:t>Plataforma preparada para escalar a toda la organización PAE.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03DA5"/>
                </a:solidFill>
                <a:latin typeface="Inter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Inter"/>
              </a:rPr>
              <a:t>De dónde venimos y qué sigue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7830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Validar esta visión con las VPs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756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Reunión actual. Recoger feedback sobre alcance y prioridades.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67004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6032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Cerrar el MVP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5292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Completar el wizard de los 5 formularios y refinar dashboards por 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24612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44728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33756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Piloto interno con Área Transformación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3016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Probar con iniciativas reales en modo localStorage.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22452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11480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Alineación con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40740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Confirmar accesos para Entra ID (SSO), SharePoint API y hosting AWS interno.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80060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00176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89204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Iniciar Fase 5 — Backend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518464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Migración a PostgreSQL + Prisma, integración SharePoint, deploy en red PAE.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577840"/>
            <a:ext cx="112471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5577840"/>
            <a:ext cx="822960" cy="713232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779008"/>
            <a:ext cx="822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5669280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3DA5"/>
                </a:solidFill>
                <a:latin typeface="Inter"/>
              </a:rPr>
              <a:t>Rollout escalonado a toda la organización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961888"/>
            <a:ext cx="10058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Onboarding por VP con soporte del Área Transformación.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Inter"/>
              </a:rPr>
              <a:t>Pan American Energy  |  Plataforma de Gestión de Portfolio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999999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1">
                <a:solidFill>
                  <a:srgbClr val="C8102E"/>
                </a:solidFill>
                <a:latin typeface="Inter"/>
              </a:rPr>
              <a:t>PAN AMERICAN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000" b="1">
                <a:solidFill>
                  <a:srgbClr val="003DA5"/>
                </a:solidFill>
                <a:latin typeface="Inter"/>
              </a:rPr>
              <a:t>Plataforma de Gestión de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>
                <a:solidFill>
                  <a:srgbClr val="333333"/>
                </a:solidFill>
                <a:latin typeface="Inter"/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666666"/>
                </a:solidFill>
                <a:latin typeface="Inter"/>
              </a:rPr>
              <a:t>Preguntas y comentarios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>
                <a:solidFill>
                  <a:srgbClr val="999999"/>
                </a:solidFill>
                <a:latin typeface="Inter"/>
              </a:rPr>
              <a:t>Área de Transformación Digital  |  Abril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